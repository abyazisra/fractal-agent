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DM Sans" pitchFamily="2" charset="0"/>
      <p:regular r:id="rId4"/>
      <p:bold r:id="rId5"/>
      <p:italic r:id="rId6"/>
      <p:boldItalic r:id="rId7"/>
    </p:embeddedFont>
    <p:embeddedFont>
      <p:font typeface="DM Sans Medium" pitchFamily="2" charset="0"/>
      <p:regular r:id="rId8"/>
      <p:bold r:id="rId9"/>
      <p:italic r:id="rId10"/>
      <p:boldItalic r:id="rId11"/>
    </p:embeddedFont>
    <p:embeddedFont>
      <p:font typeface="Merriweather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720AAA-8CC7-4022-9D5F-F82CA33AAEFE}">
  <a:tblStyle styleId="{CF720AAA-8CC7-4022-9D5F-F82CA33AAE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3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/>
        </p:nvSpPr>
        <p:spPr>
          <a:xfrm>
            <a:off x="178658" y="1560818"/>
            <a:ext cx="3355374" cy="3048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92958" y="1611621"/>
            <a:ext cx="311750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ABSTRACT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273908" y="1960868"/>
            <a:ext cx="3260124" cy="121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LLMs struggle with long contexts due to quadratic complexity. We present a holistic model addressing these via three innovations: </a:t>
            </a:r>
            <a:r>
              <a:rPr lang="en-US" sz="937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FractalAgent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infinite context, </a:t>
            </a: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Task-Driven </a:t>
            </a:r>
            <a:r>
              <a:rPr lang="en-US" sz="937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Gisting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factual retention, and </a:t>
            </a: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Differentiable Gist Retrieval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efficiency. Results show a 19.1% ROUGE-L increase and 84% latency decrease.</a:t>
            </a:r>
            <a:endParaRPr dirty="0"/>
          </a:p>
        </p:txBody>
      </p:sp>
      <p:sp>
        <p:nvSpPr>
          <p:cNvPr id="94" name="Google Shape;94;p13"/>
          <p:cNvSpPr/>
          <p:nvPr/>
        </p:nvSpPr>
        <p:spPr>
          <a:xfrm>
            <a:off x="174507" y="3197522"/>
            <a:ext cx="2609335" cy="3048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88807" y="3254672"/>
            <a:ext cx="3594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&amp; MOTIVATION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200025" y="5257800"/>
            <a:ext cx="2306080" cy="3048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88807" y="5314950"/>
            <a:ext cx="3594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WHY AGENTIC AI?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3878645" y="1558474"/>
            <a:ext cx="2200490" cy="307144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4001286" y="1626985"/>
            <a:ext cx="196357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 dirty="0"/>
          </a:p>
        </p:txBody>
      </p:sp>
      <p:sp>
        <p:nvSpPr>
          <p:cNvPr id="100" name="Google Shape;100;p13"/>
          <p:cNvSpPr/>
          <p:nvPr/>
        </p:nvSpPr>
        <p:spPr>
          <a:xfrm>
            <a:off x="2777804" y="4886567"/>
            <a:ext cx="2830264" cy="3048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2906413" y="4977988"/>
            <a:ext cx="3594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IMPROVEMENTS</a:t>
            </a:r>
            <a:endParaRPr dirty="0"/>
          </a:p>
        </p:txBody>
      </p:sp>
      <p:sp>
        <p:nvSpPr>
          <p:cNvPr id="102" name="Google Shape;102;p13"/>
          <p:cNvSpPr/>
          <p:nvPr/>
        </p:nvSpPr>
        <p:spPr>
          <a:xfrm>
            <a:off x="6715894" y="1546802"/>
            <a:ext cx="2259768" cy="304798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830194" y="1603952"/>
            <a:ext cx="3594199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EXPERIMENTS &amp; METRICS</a:t>
            </a:r>
            <a:endParaRPr dirty="0"/>
          </a:p>
        </p:txBody>
      </p:sp>
      <p:sp>
        <p:nvSpPr>
          <p:cNvPr id="104" name="Google Shape;104;p13"/>
          <p:cNvSpPr/>
          <p:nvPr/>
        </p:nvSpPr>
        <p:spPr>
          <a:xfrm>
            <a:off x="9963180" y="1575696"/>
            <a:ext cx="1549616" cy="43744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0358623" y="1619151"/>
            <a:ext cx="11541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VISUAL FINDINGS</a:t>
            </a:r>
            <a:endParaRPr dirty="0"/>
          </a:p>
        </p:txBody>
      </p:sp>
      <p:sp>
        <p:nvSpPr>
          <p:cNvPr id="106" name="Google Shape;106;p13"/>
          <p:cNvSpPr/>
          <p:nvPr/>
        </p:nvSpPr>
        <p:spPr>
          <a:xfrm>
            <a:off x="6779156" y="3773729"/>
            <a:ext cx="2342899" cy="419326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6799406" y="3836755"/>
            <a:ext cx="221503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 &amp; ETHICS</a:t>
            </a:r>
            <a:endParaRPr dirty="0"/>
          </a:p>
        </p:txBody>
      </p:sp>
      <p:sp>
        <p:nvSpPr>
          <p:cNvPr id="108" name="Google Shape;108;p13"/>
          <p:cNvSpPr/>
          <p:nvPr/>
        </p:nvSpPr>
        <p:spPr>
          <a:xfrm>
            <a:off x="10171875" y="4673188"/>
            <a:ext cx="1095984" cy="3048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200" b="1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lang="en-US" sz="1200" dirty="0"/>
          </a:p>
        </p:txBody>
      </p:sp>
      <p:sp>
        <p:nvSpPr>
          <p:cNvPr id="109" name="Google Shape;109;p13"/>
          <p:cNvSpPr txBox="1"/>
          <p:nvPr/>
        </p:nvSpPr>
        <p:spPr>
          <a:xfrm>
            <a:off x="6779157" y="5929215"/>
            <a:ext cx="3594199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9555805" y="5115962"/>
            <a:ext cx="2285476" cy="1009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framework elevates reading agents from prompters to scalable AI systems. </a:t>
            </a: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Future Work: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Expanding to long-form video (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WatchAgent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and dynamic branching factors for semantic density.</a:t>
            </a:r>
            <a:endParaRPr dirty="0"/>
          </a:p>
        </p:txBody>
      </p:sp>
      <p:sp>
        <p:nvSpPr>
          <p:cNvPr id="111" name="Google Shape;111;p13"/>
          <p:cNvSpPr txBox="1"/>
          <p:nvPr/>
        </p:nvSpPr>
        <p:spPr>
          <a:xfrm>
            <a:off x="269757" y="3597572"/>
            <a:ext cx="2795387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Standard Transformers exhibit the </a:t>
            </a: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"lost in the middle"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problem. While episodic memory (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ReadAgent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helps, it faces a "context wall" when concatenated 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gists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exceed the LLM window.</a:t>
            </a:r>
            <a:endParaRPr dirty="0"/>
          </a:p>
        </p:txBody>
      </p:sp>
      <p:sp>
        <p:nvSpPr>
          <p:cNvPr id="112" name="Google Shape;112;p13"/>
          <p:cNvSpPr txBox="1"/>
          <p:nvPr/>
        </p:nvSpPr>
        <p:spPr>
          <a:xfrm>
            <a:off x="250707" y="4423663"/>
            <a:ext cx="363215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Bottlenecks:</a:t>
            </a:r>
            <a:endParaRPr dirty="0"/>
          </a:p>
        </p:txBody>
      </p:sp>
      <p:sp>
        <p:nvSpPr>
          <p:cNvPr id="114" name="Google Shape;114;p13"/>
          <p:cNvSpPr txBox="1"/>
          <p:nvPr/>
        </p:nvSpPr>
        <p:spPr>
          <a:xfrm>
            <a:off x="4016852" y="3910250"/>
            <a:ext cx="2077870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4-step pipeline: </a:t>
            </a: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Pagination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(logic-based), </a:t>
            </a:r>
            <a:r>
              <a:rPr lang="en-US" sz="937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Gisting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(compression), </a:t>
            </a: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Lookup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(differentiable), and </a:t>
            </a: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Synthesis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(verbatim grounded).</a:t>
            </a:r>
            <a:endParaRPr dirty="0"/>
          </a:p>
        </p:txBody>
      </p:sp>
      <p:sp>
        <p:nvSpPr>
          <p:cNvPr id="115" name="Google Shape;115;p13"/>
          <p:cNvSpPr txBox="1"/>
          <p:nvPr/>
        </p:nvSpPr>
        <p:spPr>
          <a:xfrm>
            <a:off x="2895236" y="5227254"/>
            <a:ext cx="3833497" cy="40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1. </a:t>
            </a:r>
            <a:r>
              <a:rPr lang="en-US" sz="937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FractalAgent</a:t>
            </a: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Recursively summarizes 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gists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into "meta-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gists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." Scaling is limited only by tree depth, enabling infinite context.</a:t>
            </a:r>
            <a:endParaRPr dirty="0"/>
          </a:p>
        </p:txBody>
      </p:sp>
      <p:sp>
        <p:nvSpPr>
          <p:cNvPr id="116" name="Google Shape;116;p13"/>
          <p:cNvSpPr txBox="1"/>
          <p:nvPr/>
        </p:nvSpPr>
        <p:spPr>
          <a:xfrm>
            <a:off x="2868313" y="5685080"/>
            <a:ext cx="3860420" cy="6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2. Task-Driven </a:t>
            </a:r>
            <a:r>
              <a:rPr lang="en-US" sz="937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Gisting</a:t>
            </a: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forecasting agent establishment context/genre to preserve salient facts (names, numbers) relevant to predicted tasks.</a:t>
            </a:r>
            <a:endParaRPr dirty="0"/>
          </a:p>
        </p:txBody>
      </p:sp>
      <p:sp>
        <p:nvSpPr>
          <p:cNvPr id="117" name="Google Shape;117;p13"/>
          <p:cNvSpPr txBox="1"/>
          <p:nvPr/>
        </p:nvSpPr>
        <p:spPr>
          <a:xfrm>
            <a:off x="2868312" y="6299496"/>
            <a:ext cx="3860419" cy="40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3. Differentiable Retrieval: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Cosine similarity over dense vector embeddings.</a:t>
            </a:r>
            <a:endParaRPr dirty="0"/>
          </a:p>
        </p:txBody>
      </p:sp>
      <p:sp>
        <p:nvSpPr>
          <p:cNvPr id="118" name="Google Shape;118;p13"/>
          <p:cNvSpPr txBox="1"/>
          <p:nvPr/>
        </p:nvSpPr>
        <p:spPr>
          <a:xfrm>
            <a:off x="6819018" y="1879403"/>
            <a:ext cx="2195428" cy="6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Workstation: RTX 3060 Ti, Mistral LLM API. Evaluated on 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NarrativeQA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QUALITY, and 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QMSum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graphicFrame>
        <p:nvGraphicFramePr>
          <p:cNvPr id="119" name="Google Shape;119;p13"/>
          <p:cNvGraphicFramePr/>
          <p:nvPr>
            <p:extLst>
              <p:ext uri="{D42A27DB-BD31-4B8C-83A1-F6EECF244321}">
                <p14:modId xmlns:p14="http://schemas.microsoft.com/office/powerpoint/2010/main" val="1071780432"/>
              </p:ext>
            </p:extLst>
          </p:nvPr>
        </p:nvGraphicFramePr>
        <p:xfrm>
          <a:off x="6757857" y="2591812"/>
          <a:ext cx="2372862" cy="938800"/>
        </p:xfrm>
        <a:graphic>
          <a:graphicData uri="http://schemas.openxmlformats.org/drawingml/2006/table">
            <a:tbl>
              <a:tblPr firstRow="1" bandRow="1">
                <a:noFill/>
                <a:tableStyleId>{CF720AAA-8CC7-4022-9D5F-F82CA33AAEFE}</a:tableStyleId>
              </a:tblPr>
              <a:tblGrid>
                <a:gridCol w="123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 dirty="0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Improvement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ROUGE-L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+19.1% (Avg)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Retrieval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-84% (Avg)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Max Context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35k+ Words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" name="Google Shape;120;p13"/>
          <p:cNvSpPr txBox="1"/>
          <p:nvPr/>
        </p:nvSpPr>
        <p:spPr>
          <a:xfrm>
            <a:off x="9433267" y="3471810"/>
            <a:ext cx="2474957" cy="1009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Predictive 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gisting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significantly reduces hallucination rates (LR-1 Strict Match: 83.3% vs 66.7%). Recursive trees compressed a 35k-word novel into 16 meta-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gists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(1,296 words).</a:t>
            </a:r>
            <a:endParaRPr dirty="0"/>
          </a:p>
        </p:txBody>
      </p:sp>
      <p:sp>
        <p:nvSpPr>
          <p:cNvPr id="121" name="Google Shape;121;p13"/>
          <p:cNvSpPr txBox="1"/>
          <p:nvPr/>
        </p:nvSpPr>
        <p:spPr>
          <a:xfrm>
            <a:off x="422157" y="4567875"/>
            <a:ext cx="2288092" cy="20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Inference latency in interactive lookups.</a:t>
            </a:r>
            <a:endParaRPr dirty="0"/>
          </a:p>
        </p:txBody>
      </p:sp>
      <p:sp>
        <p:nvSpPr>
          <p:cNvPr id="122" name="Google Shape;122;p13"/>
          <p:cNvSpPr txBox="1"/>
          <p:nvPr/>
        </p:nvSpPr>
        <p:spPr>
          <a:xfrm>
            <a:off x="422157" y="4741867"/>
            <a:ext cx="2171185" cy="20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Hallucinations in unconditional 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gisting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23" name="Google Shape;123;p13"/>
          <p:cNvSpPr txBox="1"/>
          <p:nvPr/>
        </p:nvSpPr>
        <p:spPr>
          <a:xfrm>
            <a:off x="422157" y="4933687"/>
            <a:ext cx="1882830" cy="20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Hard limits on document length.</a:t>
            </a:r>
            <a:endParaRPr dirty="0"/>
          </a:p>
        </p:txBody>
      </p:sp>
      <p:sp>
        <p:nvSpPr>
          <p:cNvPr id="124" name="Google Shape;124;p13"/>
          <p:cNvSpPr txBox="1"/>
          <p:nvPr/>
        </p:nvSpPr>
        <p:spPr>
          <a:xfrm>
            <a:off x="422157" y="5652959"/>
            <a:ext cx="34607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Manage its own hierarchical memory.</a:t>
            </a:r>
            <a:endParaRPr dirty="0"/>
          </a:p>
        </p:txBody>
      </p:sp>
      <p:sp>
        <p:nvSpPr>
          <p:cNvPr id="125" name="Google Shape;125;p13"/>
          <p:cNvSpPr txBox="1"/>
          <p:nvPr/>
        </p:nvSpPr>
        <p:spPr>
          <a:xfrm>
            <a:off x="422157" y="5829866"/>
            <a:ext cx="2171185" cy="40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Establish episodic boundaries autonomously.</a:t>
            </a:r>
            <a:endParaRPr dirty="0"/>
          </a:p>
        </p:txBody>
      </p:sp>
      <p:sp>
        <p:nvSpPr>
          <p:cNvPr id="126" name="Google Shape;126;p13"/>
          <p:cNvSpPr txBox="1"/>
          <p:nvPr/>
        </p:nvSpPr>
        <p:spPr>
          <a:xfrm>
            <a:off x="422157" y="6173862"/>
            <a:ext cx="34607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Reason top-down through gist levels.</a:t>
            </a:r>
            <a:endParaRPr dirty="0"/>
          </a:p>
        </p:txBody>
      </p:sp>
      <p:sp>
        <p:nvSpPr>
          <p:cNvPr id="127" name="Google Shape;127;p13"/>
          <p:cNvSpPr txBox="1"/>
          <p:nvPr/>
        </p:nvSpPr>
        <p:spPr>
          <a:xfrm>
            <a:off x="422157" y="6399537"/>
            <a:ext cx="3460700" cy="16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Minimize costs through local tool use.</a:t>
            </a:r>
            <a:endParaRPr dirty="0"/>
          </a:p>
        </p:txBody>
      </p:sp>
      <p:sp>
        <p:nvSpPr>
          <p:cNvPr id="132" name="Google Shape;132;p13"/>
          <p:cNvSpPr txBox="1"/>
          <p:nvPr/>
        </p:nvSpPr>
        <p:spPr>
          <a:xfrm>
            <a:off x="6959739" y="4266933"/>
            <a:ext cx="2150298" cy="6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Hallucination: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Compression inherently loses data; risk remains in medical/legal domains.</a:t>
            </a:r>
            <a:endParaRPr dirty="0"/>
          </a:p>
        </p:txBody>
      </p:sp>
      <p:sp>
        <p:nvSpPr>
          <p:cNvPr id="133" name="Google Shape;133;p13"/>
          <p:cNvSpPr txBox="1"/>
          <p:nvPr/>
        </p:nvSpPr>
        <p:spPr>
          <a:xfrm>
            <a:off x="6949727" y="4924382"/>
            <a:ext cx="2170322" cy="6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Environment: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 token usage (200k for one novel) has tangible carbon footprints.</a:t>
            </a:r>
            <a:endParaRPr dirty="0"/>
          </a:p>
        </p:txBody>
      </p:sp>
      <p:sp>
        <p:nvSpPr>
          <p:cNvPr id="134" name="Google Shape;134;p13"/>
          <p:cNvSpPr txBox="1"/>
          <p:nvPr/>
        </p:nvSpPr>
        <p:spPr>
          <a:xfrm>
            <a:off x="6949727" y="5593523"/>
            <a:ext cx="2175474" cy="40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Bias: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37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Gisting</a:t>
            </a:r>
            <a:r>
              <a:rPr lang="en-US" sz="937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may amplify model biases by selectively preserving perspectives.</a:t>
            </a:r>
            <a:endParaRPr dirty="0"/>
          </a:p>
        </p:txBody>
      </p:sp>
      <p:sp>
        <p:nvSpPr>
          <p:cNvPr id="135" name="Google Shape;135;p13"/>
          <p:cNvSpPr txBox="1"/>
          <p:nvPr/>
        </p:nvSpPr>
        <p:spPr>
          <a:xfrm>
            <a:off x="303094" y="4546457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36" name="Google Shape;136;p13"/>
          <p:cNvSpPr txBox="1"/>
          <p:nvPr/>
        </p:nvSpPr>
        <p:spPr>
          <a:xfrm>
            <a:off x="303094" y="4749713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303094" y="4939597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38" name="Google Shape;138;p13"/>
          <p:cNvSpPr txBox="1"/>
          <p:nvPr/>
        </p:nvSpPr>
        <p:spPr>
          <a:xfrm>
            <a:off x="350719" y="5637091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39" name="Google Shape;139;p13"/>
          <p:cNvSpPr txBox="1"/>
          <p:nvPr/>
        </p:nvSpPr>
        <p:spPr>
          <a:xfrm>
            <a:off x="350719" y="5844976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40" name="Google Shape;140;p13"/>
          <p:cNvSpPr txBox="1"/>
          <p:nvPr/>
        </p:nvSpPr>
        <p:spPr>
          <a:xfrm>
            <a:off x="342900" y="6178725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41" name="Google Shape;141;p13"/>
          <p:cNvSpPr txBox="1"/>
          <p:nvPr/>
        </p:nvSpPr>
        <p:spPr>
          <a:xfrm>
            <a:off x="347867" y="6388967"/>
            <a:ext cx="47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42" name="Google Shape;142;p13"/>
          <p:cNvSpPr txBox="1"/>
          <p:nvPr/>
        </p:nvSpPr>
        <p:spPr>
          <a:xfrm>
            <a:off x="6841480" y="4279886"/>
            <a:ext cx="64084" cy="20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6835219" y="5606626"/>
            <a:ext cx="64084" cy="20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44" name="Google Shape;144;p13"/>
          <p:cNvSpPr txBox="1"/>
          <p:nvPr/>
        </p:nvSpPr>
        <p:spPr>
          <a:xfrm>
            <a:off x="6836752" y="4933687"/>
            <a:ext cx="64084" cy="20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2" name="Google Shape;91;p13">
            <a:extLst>
              <a:ext uri="{FF2B5EF4-FFF2-40B4-BE49-F238E27FC236}">
                <a16:creationId xmlns:a16="http://schemas.microsoft.com/office/drawing/2014/main" id="{DAE3891E-1CA5-5868-2B13-5D8C9D4E6EE7}"/>
              </a:ext>
            </a:extLst>
          </p:cNvPr>
          <p:cNvSpPr/>
          <p:nvPr/>
        </p:nvSpPr>
        <p:spPr>
          <a:xfrm>
            <a:off x="200024" y="86111"/>
            <a:ext cx="11801475" cy="1382631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4" y="235983"/>
            <a:ext cx="11811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BEYOND EPISODIC MEMORY: ADDRESSING CONTEXTUAL AND COMPUTATIONAL LIMITATIONS OF READING AGENTS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90525" y="915836"/>
            <a:ext cx="11430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Muhammad Qasim 22I-1994, Ayaan Khan 22I-2066, Abyaz Israr 22I-2056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380851" y="1164802"/>
            <a:ext cx="114300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Department of Artificial Intelligence and Data Science, FAST NUCES, Islamabad, Pakistan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82707-1206-A5E4-6EA9-7EAA2AE19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6" y="1934163"/>
            <a:ext cx="1626568" cy="1902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89D23C-1C5F-BDEC-BAC6-450655075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419" y="2031093"/>
            <a:ext cx="2795387" cy="1401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426</Words>
  <Application>Microsoft Office PowerPoint</Application>
  <PresentationFormat>Widescreen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Merriweather</vt:lpstr>
      <vt:lpstr>DM Sans Medium</vt:lpstr>
      <vt:lpstr>DM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Ayaan Khan</dc:creator>
  <cp:lastModifiedBy>Ayaan Khan</cp:lastModifiedBy>
  <cp:revision>1</cp:revision>
  <dcterms:modified xsi:type="dcterms:W3CDTF">2026-04-27T18:54:50Z</dcterms:modified>
</cp:coreProperties>
</file>